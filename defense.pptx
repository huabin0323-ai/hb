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C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上海电力大学 · 经济与管理学院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梯次利用电池在用户侧储能项目的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投资效益与政策建议研究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0" y="3291840"/>
            <a:ext cx="2743200" cy="27432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356616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B0C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答辩人：张雅馨</a:t>
            </a:r>
            <a:endParaRPr lang="en-US" sz="15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B0C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  业：能源服务工程 2022级</a:t>
            </a:r>
            <a:endParaRPr lang="en-US" sz="15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B0C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指导教师：孙波</a:t>
            </a:r>
            <a:endParaRPr lang="en-US" sz="15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B0C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2026年4月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182C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汇报提纲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5486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17320"/>
            <a:ext cx="411480" cy="4114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417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研究背景与意义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411480" cy="4114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2286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国内外研究综述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154680"/>
            <a:ext cx="411480" cy="4114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3154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产业链与市场现状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411480" cy="4114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4023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投资效益模型构建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54880" y="1417320"/>
            <a:ext cx="411480" cy="4114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0" y="1417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实证分析与结果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411480" cy="4114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0" y="2286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敏感性分析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754880" y="3154680"/>
            <a:ext cx="411480" cy="4114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03520" y="3154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政策建议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754880" y="4023360"/>
            <a:ext cx="411480" cy="4114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4023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研究结论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一、研究背景与意义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5486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全球能源转型与“双碳”目标驱动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截至2024年底，新能源汽车保有量达3140万辆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预计2030年退役动力电池超350万吨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2026-2029年将迎来退役高潮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电池容量衰减至80%时需退役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梯次利用可将退役电池用于储能等场景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研究意义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846320" y="1691640"/>
            <a:ext cx="3840480" cy="1280160"/>
          </a:xfrm>
          <a:prstGeom prst="rect">
            <a:avLst/>
          </a:prstGeom>
          <a:solidFill>
            <a:srgbClr val="EBF4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691640"/>
            <a:ext cx="64008" cy="128016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7373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理论意义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将废弃电池重新定义为“资源”，丰富“产品全生命周期管理”与“循环经济闭环”理论的产业实践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3200400"/>
            <a:ext cx="3840480" cy="1280160"/>
          </a:xfrm>
          <a:prstGeom prst="rect">
            <a:avLst/>
          </a:prstGeom>
          <a:solidFill>
            <a:srgbClr val="EBF4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3200400"/>
            <a:ext cx="64008" cy="128016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3" name="Text 11"/>
          <p:cNvSpPr/>
          <p:nvPr/>
        </p:nvSpPr>
        <p:spPr>
          <a:xfrm>
            <a:off x="5074920" y="32461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实践意义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为投资者测算IRR与回收期；为政策制定者（发改委、能源局、工信部）制定产业政策提供关键参考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二、国内外研究综述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5486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3749040" cy="384048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国内研究进展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技术验证方面：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退役锂电池以40%容量为终结点，仍可正常工作约800天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示范应用方面：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北京大兴100kWh梯次利用储能示范工程；南京江北13MW梯次储能电站等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标准体系方面：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已着手建立梯次利用动力电池国家标准体系，但安全标准尚需完善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749040" cy="384048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1887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国外研究进展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69164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欧盟：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2023年施行《电池和废电池法规》，要求2025年回收率达65%，钴/锂/镍回收率分别95%/70%/95%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美国：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通过立法与激励措施推动规范化发展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学术研究：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Lih等提出动力电池储能商业模式；Heymans等研究用户侧参与调峰的可行性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8046720" cy="64008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8404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现有研究不足：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用户侧储能精细化投资模型不足 | 关键参数敏感性研究不深入 | 激励政策具体作用路径探讨薄弱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三、产业链与市场现状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5486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26060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2606040" cy="5486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7" name="Text 5"/>
          <p:cNvSpPr/>
          <p:nvPr/>
        </p:nvSpPr>
        <p:spPr>
          <a:xfrm>
            <a:off x="3154680" y="21945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上游：供给端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电池生产企业（边角料、不合格品）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汽车制造商、公交公司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保险公司、报废车拆解企业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多渠道形成稳定原料供给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280160"/>
            <a:ext cx="26060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280160"/>
            <a:ext cx="2606040" cy="54864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21945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74720" y="1463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中游：处理端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192024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行业门槛不高、标准待完善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参与主体多元、格局分散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第三方企业凭借灵活模式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占据当前市场主导地位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280160"/>
            <a:ext cx="26060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280160"/>
            <a:ext cx="260604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463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下游：利用端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192024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梯次利用：电网储能、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低速电动车、通信基站等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再生利用：提取镍钴锂等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有价金属，完成资源回流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8046720" cy="960120"/>
          </a:xfrm>
          <a:prstGeom prst="rect">
            <a:avLst/>
          </a:prstGeom>
          <a:solidFill>
            <a:srgbClr val="EBF4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39776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市场数据一览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2019-2024年动力电池回收量从12.9万吨增至超38万吨    ▸ 截至2024年累计退役量约60万吨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全国回收服务网点10235个    ▸ 2026年4月《新管理办法》施行，具有强制法律约束力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四、投资效益模型构建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5486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模型框架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研究视角：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"从摇篮到坟墓"全生命周期评价（LCA）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对比对象：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梯次利用电池系统 vs 全新电池系统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功能单位：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kWh 梯次利用阶段放电量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应用场景：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工商业用户侧储能（工业园区/商业建筑）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143000"/>
            <a:ext cx="3840480" cy="1737360"/>
          </a:xfrm>
          <a:prstGeom prst="rect">
            <a:avLst/>
          </a:prstGeom>
          <a:solidFill>
            <a:srgbClr val="EBF4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143000"/>
            <a:ext cx="64008" cy="173736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9" name="Text 7"/>
          <p:cNvSpPr/>
          <p:nvPr/>
        </p:nvSpPr>
        <p:spPr>
          <a:xfrm>
            <a:off x="507492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经济效益模型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16002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NPV = PVB − PVC（净现值）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PVC: 全生命周期总成本现值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PVB: 全生命周期总收益现值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LCOE: 平准化度电成本（元/kWh）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3108960"/>
            <a:ext cx="3840480" cy="1737360"/>
          </a:xfrm>
          <a:prstGeom prst="rect">
            <a:avLst/>
          </a:prstGeom>
          <a:solidFill>
            <a:srgbClr val="EBF4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3108960"/>
            <a:ext cx="64008" cy="173736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13" name="Text 11"/>
          <p:cNvSpPr/>
          <p:nvPr/>
        </p:nvSpPr>
        <p:spPr>
          <a:xfrm>
            <a:off x="507492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环境效益模型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4920" y="35661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CEtotal = ∑(Ei × EFi) + ∑(Mj × CFj)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ΔCE = CEnew − CEsecond（减排量）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含生产、使用、回收三阶段排放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碳排放因子：0.5366 kgCO₂e/kWh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五、案例参数设定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5486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典型工商业储能项目：5MW / 10MWh 磷酸铁锂储能系统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920240"/>
                <a:gridCol w="192024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参数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梯次利用系统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全新电池系统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单位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系统容量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kWh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初始投资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855A"/>
                          </a:solidFill>
                        </a:rPr>
                        <a:t>600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元/kWh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年运维率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3.5%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占初始投资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系统效率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首年充放电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系统寿命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</a:rPr>
                        <a:t>5年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峰谷价差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元/kWh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贴现率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WACC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297680"/>
            <a:ext cx="8046720" cy="548640"/>
          </a:xfrm>
          <a:prstGeom prst="rect">
            <a:avLst/>
          </a:prstGeom>
          <a:solidFill>
            <a:srgbClr val="EBF4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4343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运营策略：谷时段（0.4107元/kWh）充电，峰时段（1.2114元/kWh）放电，单次循环套利约0.80元/kWh，年循环350次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六、经济效益分析结果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5486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1920240" cy="1371600"/>
          </a:xfrm>
          <a:prstGeom prst="rect">
            <a:avLst/>
          </a:prstGeom>
          <a:solidFill>
            <a:srgbClr val="EBF4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25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-33.3%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初始投资降低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 vs 900 元/kWh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234440"/>
            <a:ext cx="1920240" cy="1371600"/>
          </a:xfrm>
          <a:prstGeom prst="rect">
            <a:avLst/>
          </a:prstGeom>
          <a:solidFill>
            <a:srgbClr val="EBF4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325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0.4815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1460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LCOE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元/kWh（全新: 0.5409）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234440"/>
            <a:ext cx="1920240" cy="1371600"/>
          </a:xfrm>
          <a:prstGeom prst="rect">
            <a:avLst/>
          </a:prstGeom>
          <a:solidFill>
            <a:srgbClr val="EBF4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325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453.34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NPV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万元（全新: 469.01）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29400" y="1234440"/>
            <a:ext cx="1920240" cy="1371600"/>
          </a:xfrm>
          <a:prstGeom prst="rect">
            <a:avLst/>
          </a:prstGeom>
          <a:solidFill>
            <a:srgbClr val="EBF4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1325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2.66年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2940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投资回收期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2940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（全新: 3.85年）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83464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1828800"/>
                <a:gridCol w="14630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指标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梯次利用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全新电池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优势方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总成本现值PVC（万元）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F855A"/>
                          </a:solidFill>
                        </a:rPr>
                        <a:t>685.74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979.13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855A"/>
                          </a:solidFill>
                        </a:rPr>
                        <a:t>梯次利用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总收益现值PVB（万元）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1139.08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1448.14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5282"/>
                          </a:solidFill>
                        </a:rPr>
                        <a:t>全新电池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年运营收益（万元）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246.40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252.00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基本持平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年净现金流（万元）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225.40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234.00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基本持平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48640" y="4343400"/>
            <a:ext cx="8046720" cy="548640"/>
          </a:xfrm>
          <a:prstGeom prst="rect">
            <a:avLst/>
          </a:prstGeom>
          <a:solidFill>
            <a:srgbClr val="EBF4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31520" y="437083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核心洞察：梯次利用系统以低33.3%的初始投资，实现与全新系统基本持平的NPV（差距仅3.3%），且LCOE低11.0%，投资回收期快1.19年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六（续）、环境效益分析结果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5486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3200400" cy="1645920"/>
          </a:xfrm>
          <a:prstGeom prst="rect">
            <a:avLst/>
          </a:prstGeom>
          <a:solidFill>
            <a:srgbClr val="EBF4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25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26.4%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碳排放减少比例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减排 458.6 万 kgCO₂e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188720"/>
          <a:ext cx="47548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600200"/>
                <a:gridCol w="1600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生命周期阶段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梯次利用系统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全新电池系统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生产阶段排放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F855A"/>
                          </a:solidFill>
                        </a:rPr>
                        <a:t>0 kg（避免新生产）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724,000 kg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使用阶段排放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12,826,776 kg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16,722,488 kg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回收阶段排放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−51,000 kg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−85,000 kg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合计总排放量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F855A"/>
                          </a:solidFill>
                        </a:rPr>
                        <a:t>12,775,776 kg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17,361,488 kg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单位排放强度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0.6913 kgCO₂e/kWh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0.6889 kgCO₂e/kWh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3063240"/>
            <a:ext cx="8046720" cy="1828800"/>
          </a:xfrm>
          <a:prstGeom prst="rect">
            <a:avLst/>
          </a:prstGeom>
          <a:solidFill>
            <a:srgbClr val="EBF4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152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3520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避免新电池生产阶段排放72.4万kg，是减排的主要来源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单位排放强度基本持平（差异仅0.3%），主要因寿命与效率差异抵消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若以相同8年总放电量为基准，梯次利用系统累计排放仍低2.1%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效率每提升1个百分点，使用阶段排放降低约1.14%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若寿命延长至8年且效率维持88%，单位排放强度降至0.5185，显著优于全新电池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七、敏感性分析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5486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单因素敏感性分析（±20%变动范围）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00200"/>
            <a:ext cx="1920240" cy="54864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峰谷电价差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NPV波动±50.3%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敏感度排序: #1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14600" y="160020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600200"/>
            <a:ext cx="1920240" cy="54864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1460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系统效率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4600" y="2606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NPV波动±50.3%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14600" y="2880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敏感度排序: #1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160020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600200"/>
            <a:ext cx="1920240" cy="54864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57200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循环寿命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2606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NPV波动-37.6%/+34.3%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2880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敏感度排序: #2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629400" y="160020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29400" y="1600200"/>
            <a:ext cx="1920240" cy="54864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1.51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62940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电池成本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29400" y="2606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NPV波动±30.3%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29400" y="2880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敏感度排序: #3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NPV变动情景分析（万元）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0332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645920"/>
                <a:gridCol w="1645920"/>
                <a:gridCol w="20116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参数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基准NPV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−20%情景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+20%情景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变动幅度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峰谷价差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453.34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53030"/>
                          </a:solidFill>
                        </a:rPr>
                        <a:t>225.53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855A"/>
                          </a:solidFill>
                        </a:rPr>
                        <a:t>681.16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±50.3%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系统效率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453.34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53030"/>
                          </a:solidFill>
                        </a:rPr>
                        <a:t>225.53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855A"/>
                          </a:solidFill>
                        </a:rPr>
                        <a:t>567.25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−50.3%/+25.1%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循环寿命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453.34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53030"/>
                          </a:solidFill>
                        </a:rPr>
                        <a:t>282.78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855A"/>
                          </a:solidFill>
                        </a:rPr>
                        <a:t>608.95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−37.6%/+34.3%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电池成本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453.34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855A"/>
                          </a:solidFill>
                        </a:rPr>
                        <a:t>590.49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53030"/>
                          </a:solidFill>
                        </a:rPr>
                        <a:t>316.19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±30.3%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七、敏感性对比：梯次利用 vs 全新电池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5486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25603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参数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梯次利用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敏感度系数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全新电池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敏感度系数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抗风险评价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峰谷价差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53030"/>
                          </a:solidFill>
                        </a:rPr>
                        <a:t>2.51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2C"/>
                          </a:solidFill>
                        </a:rPr>
                        <a:t>3.09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855A"/>
                          </a:solidFill>
                        </a:rPr>
                        <a:t>梯次利用抗风险能力更强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系统效率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53030"/>
                          </a:solidFill>
                        </a:rPr>
                        <a:t>2.51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2C"/>
                          </a:solidFill>
                        </a:rPr>
                        <a:t>3.09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855A"/>
                          </a:solidFill>
                        </a:rPr>
                        <a:t>梯次利用抗风险能力更强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循环寿命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5621"/>
                          </a:solidFill>
                        </a:rPr>
                        <a:t>1.88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5621"/>
                          </a:solidFill>
                        </a:rPr>
                        <a:t>2.18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855A"/>
                          </a:solidFill>
                        </a:rPr>
                        <a:t>梯次利用抗风险能力更强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电池成本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7791F"/>
                          </a:solidFill>
                        </a:rPr>
                        <a:t>1.51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7791F"/>
                          </a:solidFill>
                        </a:rPr>
                        <a:t>2.09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855A"/>
                          </a:solidFill>
                        </a:rPr>
                        <a:t>成本优势显著且稳定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291840"/>
            <a:ext cx="3840480" cy="1554480"/>
          </a:xfrm>
          <a:prstGeom prst="rect">
            <a:avLst/>
          </a:prstGeom>
          <a:solidFill>
            <a:srgbClr val="EBF4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核心发现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7033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梯次利用系统在所有四个参数上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敏感度均低于全新电池系统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电池成本敏感度差异最显著：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梯次1.51 vs 全新2.09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峰谷价差降至约0.53元/kWh时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项目NPV将归零（盈亏平衡点）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46320" y="3291840"/>
            <a:ext cx="3840480" cy="1554480"/>
          </a:xfrm>
          <a:prstGeom prst="rect">
            <a:avLst/>
          </a:prstGeom>
          <a:solidFill>
            <a:srgbClr val="EBF4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0" y="37033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梯次利用系统在供应链价格波动、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电价政策不确定的市场环境中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具有更强的投资稳健性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为动力电池规模化退役后的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商业化应用提供了理论支撑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八、政策建议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5486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80467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43000"/>
            <a:ext cx="502920" cy="80467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430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完善电价机制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强化项目收益保障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121615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设定峰谷价差底线标准（0.3-0.6元/kWh）；出台储能电价补偿机制；鼓励签订长期购电协议（PPA）锁定电价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039112"/>
            <a:ext cx="80467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039112"/>
            <a:ext cx="502920" cy="80467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03911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084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设立专项补贴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4048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攻坚核心技术优化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0" y="211226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重点支持无损检测、快速分选与高效重组技术；加大BMS优化研发支持；弥合退役电池单体差异，提升效率与寿命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935224"/>
            <a:ext cx="80467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935224"/>
            <a:ext cx="502920" cy="80467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935224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29809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建立溯源平台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33009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实现数据透明化监管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66160" y="300837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建立全生命周期数据溯源与监管平台；强制全链条登记；为残值评估、保险定价、环保回收提供数据依据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831336"/>
            <a:ext cx="80467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831336"/>
            <a:ext cx="502920" cy="80467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831336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720" y="38770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丰富金融激励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41970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降低企业融资门槛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66160" y="390448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税收减免、固定资产加速折旧等优惠；推出专属"绿色信贷"产品；降低贷款利率与融资门槛，吸引社会资本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九、研究结论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5486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8046720" cy="1143000"/>
          </a:xfrm>
          <a:prstGeom prst="rect">
            <a:avLst/>
          </a:prstGeom>
          <a:solidFill>
            <a:srgbClr val="EBF4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88720"/>
            <a:ext cx="64008" cy="1143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6187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结论一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梯次利用电池在用户侧储能领域具有良好的经济可行性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初始投资较全新电池系统低约33%，全生命周期总成本现值降低约30%，NPV与全新系统基本持平（差距仅3.3%），LCOE为0.48元/kWh（低于全新0.54元/kWh），投资回收期仅2.66年，展现良好商业化应用潜力。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50592"/>
            <a:ext cx="8046720" cy="1143000"/>
          </a:xfrm>
          <a:prstGeom prst="rect">
            <a:avLst/>
          </a:prstGeom>
          <a:solidFill>
            <a:srgbClr val="EBF4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450592"/>
            <a:ext cx="64008" cy="1143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2374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结论二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梯次利用电池在全生命周期内具有明显的碳减排优势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0449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完整生命周期内总碳排放较全新电池系统减少约26%（458.6万kgCO₂e），主要源于避免新电池生产阶段72.4万kg排放。随着电池寿命延长和效率提升，环境优势将更加明显。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12464"/>
            <a:ext cx="8046720" cy="1143000"/>
          </a:xfrm>
          <a:prstGeom prst="rect">
            <a:avLst/>
          </a:prstGeom>
          <a:solidFill>
            <a:srgbClr val="EBF4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712464"/>
            <a:ext cx="64008" cy="1143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8561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结论三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峰谷电价差和系统效率是影响项目经济性的关键因素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430682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峰谷价差敏感度系数2.51居首位，系统效率同样达2.51，循环寿命1.80，电池成本1.51。峰谷价差降至约0.53元/kWh时项目NPV归零，政策保障至关重要。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九、研究总结与展望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5486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核心结论：梯次利用电池以更低成本、更强抗风险能力、更优碳减排表现，在用户侧储能领域具备显著的商业化推广价值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研究贡献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构建了融合经济与环境效益的全生命周期综合评价框架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通过±20%单因素敏感性分析，精确识别关键风险变量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进行了梯次利用与全新电池系统的全维度对比分析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提出了具有可操作性的四级政策建议体系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研究局限与展望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237744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电池效率衰减及运维成本进行了理想化处理；案例集中于典型工商业场景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展望：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结合多区域实际运行数据优化模型参数；深入探讨政策激励对商业模式的影响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8046720" cy="640080"/>
          </a:xfrm>
          <a:prstGeom prst="rect">
            <a:avLst/>
          </a:prstGeom>
          <a:solidFill>
            <a:srgbClr val="EBF4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4187952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随着技术进步、市场机制完善及政策支持力度的提升，梯次利用电池有望在未来储能产业中发挥更重要的作用，为推动新能源产业可持续发展和实现低碳能源转型提供重要支撑。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200400" y="2377440"/>
            <a:ext cx="2743200" cy="27432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65176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A0C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梯次利用电池在用户侧储能项目的投资效益与政策建议研究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0C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答辩人：张雅馨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0C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指导教师：孙波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0C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上海电力大学 · 经济与管理学院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0C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敬请各位老师批评指正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182C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梯次利用电池在用户侧储能项目的投资效益与政策建议研究</dc:title>
  <dc:subject>PptxGenJS Presentation</dc:subject>
  <dc:creator>张雅馨</dc:creator>
  <cp:lastModifiedBy>张雅馨</cp:lastModifiedBy>
  <cp:revision>1</cp:revision>
  <dcterms:created xsi:type="dcterms:W3CDTF">2026-05-24T15:44:10Z</dcterms:created>
  <dcterms:modified xsi:type="dcterms:W3CDTF">2026-05-24T15:44:10Z</dcterms:modified>
</cp:coreProperties>
</file>